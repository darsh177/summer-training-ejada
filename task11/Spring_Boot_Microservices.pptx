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280160"/>
            <a:ext cx="4114800" cy="4114800"/>
          </a:xfrm>
          <a:prstGeom prst="ellipse">
            <a:avLst/>
          </a:prstGeom>
          <a:solidFill>
            <a:srgbClr val="065A82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206240"/>
            <a:ext cx="3840480" cy="3840480"/>
          </a:xfrm>
          <a:prstGeom prst="ellipse">
            <a:avLst/>
          </a:prstGeom>
          <a:solidFill>
            <a:srgbClr val="1C7293">
              <a:alpha val="4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3317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Boot Microservices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10725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 and Service Discovery Between Microservices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7947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C6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simplified summary of a 23-video series — Java Brains  •  Movie App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071116" y="4892040"/>
            <a:ext cx="2468880" cy="685800"/>
          </a:xfrm>
          <a:prstGeom prst="roundRect">
            <a:avLst>
              <a:gd name="adj" fmla="val 16000"/>
            </a:avLst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2071116" y="48920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Movie Catalog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60036" y="4892040"/>
            <a:ext cx="2468880" cy="685800"/>
          </a:xfrm>
          <a:prstGeom prst="roundRect">
            <a:avLst>
              <a:gd name="adj" fmla="val 16000"/>
            </a:avLst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4860036" y="48920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Movie Info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648956" y="4892040"/>
            <a:ext cx="2468880" cy="685800"/>
          </a:xfrm>
          <a:prstGeom prst="roundRect">
            <a:avLst>
              <a:gd name="adj" fmla="val 16000"/>
            </a:avLst>
          </a:prstGeom>
          <a:solidFill>
            <a:srgbClr val="3E8DA3"/>
          </a:solidFill>
          <a:ln/>
        </p:spPr>
      </p:sp>
      <p:sp>
        <p:nvSpPr>
          <p:cNvPr id="12" name="Text 10"/>
          <p:cNvSpPr/>
          <p:nvPr/>
        </p:nvSpPr>
        <p:spPr>
          <a:xfrm>
            <a:off x="7648956" y="489204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Ratings Data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Idea: A Movie App Built From 3 Independent Services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one big Monolith, each responsibility now lives in its own service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51592" y="2880360"/>
            <a:ext cx="1371600" cy="822960"/>
          </a:xfrm>
          <a:prstGeom prst="roundRect">
            <a:avLst>
              <a:gd name="adj" fmla="val 11111"/>
            </a:avLst>
          </a:prstGeom>
          <a:solidFill>
            <a:srgbClr val="F4F8FA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51592" y="28803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905756" y="288036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4905756" y="28803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Movie Catalog Service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83196" y="3291840"/>
            <a:ext cx="3168396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188720" y="160020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1188720" y="16002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Movie Info Service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188720" y="41605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3E8DA3"/>
          </a:solidFill>
          <a:ln/>
        </p:spPr>
      </p:sp>
      <p:sp>
        <p:nvSpPr>
          <p:cNvPr id="12" name="Text 10"/>
          <p:cNvSpPr/>
          <p:nvPr/>
        </p:nvSpPr>
        <p:spPr>
          <a:xfrm>
            <a:off x="1188720" y="41605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Ratings Data Service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566160" y="2377440"/>
            <a:ext cx="1339596" cy="96012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566160" y="4297680"/>
            <a:ext cx="1339596" cy="-96012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" y="521208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Movie Catalog Service receives the user's request</a:t>
            </a:r>
            <a:endParaRPr lang="en-US" sz="1400" dirty="0"/>
          </a:p>
          <a:p>
            <a:pPr algn="l"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internally calls the Info Service and the Ratings Service</a:t>
            </a:r>
            <a:endParaRPr lang="en-US" sz="1400" dirty="0"/>
          </a:p>
          <a:p>
            <a:pPr algn="l"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combines the results into a single response for the user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the Microservices World Need So Many Tools?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Comparing the traditional Monolith with the microservices approach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19672" y="1920240"/>
            <a:ext cx="5120640" cy="3749040"/>
          </a:xfrm>
          <a:prstGeom prst="roundRect">
            <a:avLst>
              <a:gd name="adj" fmla="val 2439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6519672" y="21488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Microservices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85432" y="2743200"/>
            <a:ext cx="4389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service is fully independent (code, DB, deployment)</a:t>
            </a:r>
            <a:endParaRPr lang="en-US" sz="14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Needs: Service Registry, Load Balancer, Circuit Breaker, API Gateway</a:t>
            </a:r>
            <a:endParaRPr lang="en-US" sz="14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flexible, but higher operational complexity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5120640" cy="3749040"/>
          </a:xfrm>
          <a:prstGeom prst="roundRect">
            <a:avLst>
              <a:gd name="adj" fmla="val 2439"/>
            </a:avLst>
          </a:prstGeom>
          <a:solidFill>
            <a:srgbClr val="F4F8FA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1488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Monolith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2743200"/>
            <a:ext cx="4389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runs inside a single process</a:t>
            </a:r>
            <a:endParaRPr lang="en-US" sz="14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discovery or communication problem between parts</a:t>
            </a:r>
            <a:endParaRPr lang="en-US" sz="14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6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at first, harder to scale later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First Service: Movie Catalog Service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Initializr + @RestController + @GetMapping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91672" cy="3291840"/>
          </a:xfrm>
          <a:prstGeom prst="roundRect">
            <a:avLst>
              <a:gd name="adj" fmla="val 2222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194560"/>
            <a:ext cx="1045159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@RestController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@RequestMapping("/catalog")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MovieCatalogResource {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@GetMapping("/{userId}")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List&lt;CatalogItem&gt; getCatalog(@PathVariable String userId) {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Collections.singletonList(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new CatalogItem("Transformers", "Good movie", 4)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);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service is its own Spring Boot project, running on its own port (server.port)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Services Talk to Each Other?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make HTTP calls between microservices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120640" cy="3794760"/>
          </a:xfrm>
          <a:prstGeom prst="roundRect">
            <a:avLst>
              <a:gd name="adj" fmla="val 2410"/>
            </a:avLst>
          </a:prstGeom>
          <a:solidFill>
            <a:srgbClr val="F4F8FA"/>
          </a:solidFill>
          <a:ln w="12700">
            <a:solidFill>
              <a:srgbClr val="D8E2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1488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RestTemplate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Synchronous — waits for the response before continuing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3017520"/>
            <a:ext cx="4572000" cy="2377440"/>
          </a:xfrm>
          <a:prstGeom prst="roundRect">
            <a:avLst>
              <a:gd name="adj" fmla="val 2308"/>
            </a:avLst>
          </a:prstGeom>
          <a:solidFill>
            <a:srgbClr val="21295C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20040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RestTemplate rt = new RestTemplate();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Movie m = rt.getForObject(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"http://localhost:8082/movies/" + id,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Movie.class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19672" y="1965960"/>
            <a:ext cx="5120640" cy="3794760"/>
          </a:xfrm>
          <a:prstGeom prst="roundRect">
            <a:avLst>
              <a:gd name="adj" fmla="val 2410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519672" y="21488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WebClient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19672" y="2560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Reactive — newer, supports non-blocking calls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93992" y="3017520"/>
            <a:ext cx="4572000" cy="2377440"/>
          </a:xfrm>
          <a:prstGeom prst="roundRect">
            <a:avLst>
              <a:gd name="adj" fmla="val 2308"/>
            </a:avLst>
          </a:prstGeom>
          <a:solidFill>
            <a:srgbClr val="21295C"/>
          </a:solidFill>
          <a:ln/>
        </p:spPr>
      </p:sp>
      <p:sp>
        <p:nvSpPr>
          <p:cNvPr id="13" name="Text 11"/>
          <p:cNvSpPr/>
          <p:nvPr/>
        </p:nvSpPr>
        <p:spPr>
          <a:xfrm>
            <a:off x="6976872" y="320040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WebClient wc = WebClient.create();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Movie m = wc.get()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.uri(".../movies/" + id)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.retrieve()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.bodyToMono(Movie.class)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.block();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Tip: Don't Return a Raw List From Your API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Avoids breaking changes later when you add fields like pagination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120640" cy="2926080"/>
          </a:xfrm>
          <a:prstGeom prst="roundRect">
            <a:avLst>
              <a:gd name="adj" fmla="val 3125"/>
            </a:avLst>
          </a:prstGeom>
          <a:solidFill>
            <a:srgbClr val="FBE9E7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2860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3A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The Wrong Way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9260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623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List&lt;Movie&gt; -&gt; [ {...}, {...} ]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40233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2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response is a raw array at the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19672" y="2103120"/>
            <a:ext cx="5120640" cy="2926080"/>
          </a:xfrm>
          <a:prstGeom prst="roundRect">
            <a:avLst>
              <a:gd name="adj" fmla="val 3125"/>
            </a:avLst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6519672" y="22860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The Right Way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793992" y="29260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MovieResponse {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List&lt;Movie&gt; movies;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totalCount;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19672" y="420624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 the list inside an object, leaving room to grow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Problem: Hardcoded Addresses Between Services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service's address or port changes, you'd have to edit the code everywhere manually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651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651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Service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22876" y="2651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3E8DA3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651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 Service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localhost:8082 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21488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2B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Hardcoded IP:Port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0" y="3108960"/>
            <a:ext cx="1065276" cy="0"/>
          </a:xfrm>
          <a:prstGeom prst="line">
            <a:avLst/>
          </a:prstGeom>
          <a:noFill/>
          <a:ln w="25400">
            <a:solidFill>
              <a:srgbClr val="F2B441"/>
            </a:solidFill>
            <a:prstDash val="dash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731520" y="420624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if you run multiple instances, or a service's location changes... how do you find it automatically?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5029200"/>
            <a:ext cx="9994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Client-side discovery: the client itself asks the registry</a:t>
            </a:r>
            <a:endParaRPr lang="en-US" sz="1400" dirty="0"/>
          </a:p>
          <a:p>
            <a:pPr algn="l" marL="342900" indent="-342900">
              <a:lnSpc>
                <a:spcPct val="140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Server-side discovery: a load balancer sits in between and routes the request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Solution: Eureka Service Registry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service registers itself, and any other service can ask for its location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920240" y="2377440"/>
            <a:ext cx="4174236" cy="1348740"/>
          </a:xfrm>
          <a:prstGeom prst="line">
            <a:avLst/>
          </a:prstGeom>
          <a:noFill/>
          <a:ln w="19050">
            <a:solidFill>
              <a:srgbClr val="B9C7D0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920240" y="3726180"/>
            <a:ext cx="4174236" cy="1577340"/>
          </a:xfrm>
          <a:prstGeom prst="line">
            <a:avLst/>
          </a:prstGeom>
          <a:noFill/>
          <a:ln w="19050">
            <a:solidFill>
              <a:srgbClr val="B9C7D0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6094476" y="3726180"/>
            <a:ext cx="4174236" cy="1577340"/>
          </a:xfrm>
          <a:prstGeom prst="line">
            <a:avLst/>
          </a:prstGeom>
          <a:noFill/>
          <a:ln w="19050">
            <a:solidFill>
              <a:srgbClr val="B9C7D0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6094476" y="2377440"/>
            <a:ext cx="4174236" cy="1348740"/>
          </a:xfrm>
          <a:prstGeom prst="line">
            <a:avLst/>
          </a:prstGeom>
          <a:noFill/>
          <a:ln w="19050">
            <a:solidFill>
              <a:srgbClr val="B9C7D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4722876" y="3246120"/>
            <a:ext cx="2743200" cy="960120"/>
          </a:xfrm>
          <a:prstGeom prst="roundRect">
            <a:avLst>
              <a:gd name="adj" fmla="val 11429"/>
            </a:avLst>
          </a:prstGeom>
          <a:solidFill>
            <a:srgbClr val="21295C"/>
          </a:solidFill>
          <a:ln/>
        </p:spPr>
      </p:sp>
      <p:sp>
        <p:nvSpPr>
          <p:cNvPr id="9" name="Text 7"/>
          <p:cNvSpPr/>
          <p:nvPr/>
        </p:nvSpPr>
        <p:spPr>
          <a:xfrm>
            <a:off x="4722876" y="324612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Eureka Server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(port 8761)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196596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19659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005840" y="489204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48920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354312" y="489204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3E8DA3"/>
          </a:solidFill>
          <a:ln/>
        </p:spPr>
      </p:sp>
      <p:sp>
        <p:nvSpPr>
          <p:cNvPr id="15" name="Text 13"/>
          <p:cNvSpPr/>
          <p:nvPr/>
        </p:nvSpPr>
        <p:spPr>
          <a:xfrm>
            <a:off x="9354312" y="48920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354312" y="196596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5FA8BF"/>
          </a:solidFill>
          <a:ln/>
        </p:spPr>
      </p:sp>
      <p:sp>
        <p:nvSpPr>
          <p:cNvPr id="17" name="Text 15"/>
          <p:cNvSpPr/>
          <p:nvPr/>
        </p:nvSpPr>
        <p:spPr>
          <a:xfrm>
            <a:off x="9354312" y="19659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New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31520" y="56235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@EnableEurekaServer  •  spring-cloud-starter-netflix-eureka-server (Server)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@EnableDiscoveryClient / spring-cloud-starter-netflix-eureka-client (Client)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Discovering Services and Load Balancing Automatically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a hardcoded IP, we call the service by name — and Spring balances the requests for us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1672" cy="1828800"/>
          </a:xfrm>
          <a:prstGeom prst="roundRect">
            <a:avLst>
              <a:gd name="adj" fmla="val 4000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148840"/>
            <a:ext cx="104515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@Bean</a:t>
            </a:r>
            <a:endParaRPr lang="en-US" sz="14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@LoadBalanced</a:t>
            </a:r>
            <a:endParaRPr lang="en-US" sz="14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RestTemplate getRestTemplate() { return new RestTemplate(); }</a:t>
            </a:r>
            <a:endParaRPr lang="en-US" sz="1400" dirty="0"/>
          </a:p>
          <a:p>
            <a:pPr algn="l" indent="0" marL="0">
              <a:lnSpc>
                <a:spcPct val="135000"/>
              </a:lnSpc>
              <a:buNone/>
            </a:pPr>
            <a:endParaRPr lang="en-US" sz="14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D7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restTemplate.getForObject("http://movie-info-service/movies/" + id, Movie.class);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Notice the call now uses the service name, not an IP address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985516" y="4572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2985516" y="45720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movie-info-service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Instance 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180076" y="4572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180076" y="45720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movie-info-service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Instance 2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74636" y="457200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7374636" y="45720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movie-info-service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Instance 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553212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6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Eureka + Load Balancer automatically distribute requests across every running instance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234440" y="160020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12344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920240" y="1554480"/>
            <a:ext cx="9720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3 independent services (Catalog, Info, Ratings)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34440" y="24688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123444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920240" y="2423160"/>
            <a:ext cx="9720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 between them via RestTemplate or WebClient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234440" y="333756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920240" y="3291840"/>
            <a:ext cx="9720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service discovery via Eureka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234440" y="420624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920240" y="4160520"/>
            <a:ext cx="9720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FE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Client-side load balancing across instances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371600" y="5257800"/>
            <a:ext cx="9445752" cy="1005840"/>
          </a:xfrm>
          <a:prstGeom prst="roundRect">
            <a:avLst>
              <a:gd name="adj" fmla="val 10909"/>
            </a:avLst>
          </a:prstGeom>
          <a:solidFill>
            <a:srgbClr val="065A82"/>
          </a:solidFill>
          <a:ln/>
        </p:spPr>
      </p:sp>
      <p:sp>
        <p:nvSpPr>
          <p:cNvPr id="16" name="Text 14"/>
          <p:cNvSpPr/>
          <p:nvPr/>
        </p:nvSpPr>
        <p:spPr>
          <a:xfrm>
            <a:off x="1554480" y="5257800"/>
            <a:ext cx="90799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Next: Level 2 — Fault Tolerance and Resilience (Circuit Breaker / Hystrix)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2026-08-27T10:05:46Z</dcterms:created>
  <dcterms:modified xsi:type="dcterms:W3CDTF">2026-08-27T10:05:46Z</dcterms:modified>
</cp:coreProperties>
</file>