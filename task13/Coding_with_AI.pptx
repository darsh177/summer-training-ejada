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03920" y="-1463040"/>
            <a:ext cx="4572000" cy="4572000"/>
          </a:xfrm>
          <a:prstGeom prst="ellipse">
            <a:avLst/>
          </a:prstGeom>
          <a:solidFill>
            <a:srgbClr val="1B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875520" cy="10926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4600" b="1" i="0" dirty="0">
                <a:solidFill>
                  <a:srgbClr val="FFFFFF"/>
                </a:solidFill>
                <a:latin typeface="Calibri"/>
              </a:rPr>
              <a:t>Coding with AI </a:t>
            </a:r>
            <a:endParaRPr lang="en-US" sz="4600" b="1" i="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600"/>
              </a:spcAft>
              <a:buNone/>
            </a:pPr>
            <a:r>
              <a:rPr sz="2000" b="0" i="0" dirty="0">
                <a:solidFill>
                  <a:srgbClr val="C9D2E0"/>
                </a:solidFill>
                <a:latin typeface="Calibri"/>
              </a:rPr>
              <a:t>A complete walkthrough of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778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1D8F84"/>
                </a:solidFill>
                <a:latin typeface="Calibri"/>
              </a:rPr>
              <a:t>COURSE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 dirty="0">
                <a:solidFill>
                  <a:srgbClr val="141B2E"/>
                </a:solidFill>
                <a:latin typeface="Calibri"/>
              </a:rPr>
              <a:t>What this course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852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buNone/>
            </a:pPr>
            <a:r>
              <a:rPr sz="1650" b="0" i="0">
                <a:solidFill>
                  <a:srgbClr val="1F2937"/>
                </a:solidFill>
                <a:latin typeface="Calibri"/>
              </a:rPr>
              <a:t>This course, from the Net Ninja channel, explains how to use GitHub Copilot inside VS Code as an assistant for writing code — without handing full control of the process to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85216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50" b="0" i="0">
                <a:solidFill>
                  <a:srgbClr val="1F2937"/>
                </a:solidFill>
                <a:latin typeface="Calibri"/>
              </a:rPr>
              <a:t>Copilot's three modes: Ask, Edit, and Agent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50" b="0" i="0">
                <a:solidFill>
                  <a:srgbClr val="1F2937"/>
                </a:solidFill>
                <a:latin typeface="Calibri"/>
              </a:rPr>
              <a:t>Using Context and Instruction Files so Copilot understands your project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50" b="0" i="0">
                <a:solidFill>
                  <a:srgbClr val="1F2937"/>
                </a:solidFill>
                <a:latin typeface="Calibri"/>
              </a:rPr>
              <a:t>Connecting Copilot to external services (e.g. Supabase) via MCP Servers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50" b="0" i="0">
                <a:solidFill>
                  <a:srgbClr val="1F2937"/>
                </a:solidFill>
                <a:latin typeface="Calibri"/>
              </a:rPr>
              <a:t>A hands-on Next.js build and a Vibe Coding session with Bolt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Tools, Models &amp; Copilot Setup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8813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Introduces the available tools and models, and how to install and enable GitHub Copilot in VS Code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Install the GitHub Copilot extension from the VS Code Marketplace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A GitHub Copilot subscription is required (a limited free tier exists)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Choose the right model (e.g. GPT or Claude) from the Copilot Chat dropdown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Coding with AI (Copilot) — Net Ninja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Vibe Coding with Bolt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8813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A hands-on session with Bolt.new, a tool that builds complete apps from a simple text prompt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The idea: describe the app you want, and the tool generates the full code and UI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Great for rapid prototyping, but needs careful review before production use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Introduces the term ‘Vibe Coding’ — building software mostly through prompts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384048"/>
            <a:ext cx="8778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1D8F84"/>
                </a:solidFill>
                <a:latin typeface="Calibri"/>
              </a:rPr>
              <a:t>VIDEO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Copilot Basics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394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Covers Copilot Chat basics inside VS Code and how to write prompts that get better results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The difference between inline suggestions (while typing) and the Chat panel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Tab to accept a suggestion, Esc to dismiss it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Ctrl+I (or Cmd+I) opens Inline Chat right where you're coding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4206240"/>
          </a:xfrm>
          <a:prstGeom prst="roundRect">
            <a:avLst>
              <a:gd name="adj" fmla="val 4000"/>
            </a:avLst>
          </a:prstGeom>
          <a:solidFill>
            <a:srgbClr val="0F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// Write a clear comment describing intent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// Function to calculate the total price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// including tax (8.5%)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function calculateTotal(price) {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  // Copilot will suggest the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  // implementation automatically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384048"/>
            <a:ext cx="8778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1D8F84"/>
                </a:solidFill>
                <a:latin typeface="Calibri"/>
              </a:rPr>
              <a:t>VIDEO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Copilot Edit &amp; Agent Modes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8813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Explains Copilot's three modes: Ask, Edit, and Agent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Ask Mode — answers questions and explains code without editing anything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Edit Mode — you choose specific files and Copilot edits them directly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Agent Mode — takes on a full task and executes it step by step (creating files, running commands)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108813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How to give Copilot the right context so it truly understands your project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Add specific files to the context window for more relevant answers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Use # to reference a specific file or symbol inside the chat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700" b="0" i="0">
                <a:solidFill>
                  <a:srgbClr val="1F2937"/>
                </a:solidFill>
                <a:latin typeface="Calibri"/>
              </a:rPr>
              <a:t>The more precise the context, the more accurate Copilot's 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91672" cy="548640"/>
          </a:xfrm>
          <a:prstGeom prst="roundRect">
            <a:avLst>
              <a:gd name="adj" fmla="val 3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77800" rIns="177800" rtlCol="0" anchor="ctr"/>
          <a:lstStyle/>
          <a:p>
            <a:pPr algn="ctr">
              <a:buNone/>
            </a:pPr>
            <a:r>
              <a:rPr sz="1350" b="1" i="1">
                <a:solidFill>
                  <a:srgbClr val="1D8F84"/>
                </a:solidFill>
                <a:latin typeface="Calibri"/>
              </a:rPr>
              <a:t>Tip: use #file:filename to point Copilot to an exact 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Making a Next.js Site with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394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A hands-on project: building a simple Next.js site from scratch with Copilot's help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Start the project with create-next-app, then use Copilot to build components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Copilot assists across the whole flow — from project setup to pages and components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4206240"/>
          </a:xfrm>
          <a:prstGeom prst="roundRect">
            <a:avLst>
              <a:gd name="adj" fmla="val 4000"/>
            </a:avLst>
          </a:prstGeom>
          <a:solidFill>
            <a:srgbClr val="0F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npx create-next-app@latest my-ai-site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cd my-ai-site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code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Instruction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394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Using a file like .github/copilot-instructions.md to give Copilot standing rules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Define your preferred coding style, libraries in use, and any rules Copilot must follow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The file is read automatically with every request — no need to repeat instructions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4206240"/>
          </a:xfrm>
          <a:prstGeom prst="roundRect">
            <a:avLst>
              <a:gd name="adj" fmla="val 4000"/>
            </a:avLst>
          </a:prstGeom>
          <a:solidFill>
            <a:srgbClr val="0F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.github/copilot-instructions.md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Always use TypeScript.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Follow Functional Components in React.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Do not use external libraries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  without approval.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The Importance of Git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394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Reinforces why Git matters constantly when coding with AI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Commit frequently after every successful change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If Copilot makes a bad edit, you can easily roll back (git checkout / git revert)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>
                <a:solidFill>
                  <a:srgbClr val="1F2937"/>
                </a:solidFill>
                <a:latin typeface="Calibri"/>
              </a:rPr>
              <a:t>Golden rule: commit before giving Copilot a large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4206240"/>
          </a:xfrm>
          <a:prstGeom prst="roundRect">
            <a:avLst>
              <a:gd name="adj" fmla="val 4000"/>
            </a:avLst>
          </a:prstGeom>
          <a:solidFill>
            <a:srgbClr val="0F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git add .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git commit -m "working version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               before AI edit"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806440"/>
            <a:ext cx="11091672" cy="548640"/>
          </a:xfrm>
          <a:prstGeom prst="roundRect">
            <a:avLst>
              <a:gd name="adj" fmla="val 3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77800" rIns="177800" rtlCol="0" anchor="ctr"/>
          <a:lstStyle/>
          <a:p>
            <a:pPr algn="ctr">
              <a:buNone/>
            </a:pPr>
            <a:r>
              <a:rPr sz="1350" b="1" i="1">
                <a:solidFill>
                  <a:srgbClr val="1D8F84"/>
                </a:solidFill>
                <a:latin typeface="Calibri"/>
              </a:rPr>
              <a:t>Golden rule: commit before every big Copilot 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48640" y="502920"/>
            <a:ext cx="640080" cy="64008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384048"/>
            <a:ext cx="8778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1300" b="1" i="0">
                <a:solidFill>
                  <a:srgbClr val="1D8F84"/>
                </a:solidFill>
                <a:latin typeface="Calibri"/>
              </a:rPr>
              <a:t>VIDEO 9–10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685800"/>
            <a:ext cx="8778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800" b="1" i="0">
                <a:solidFill>
                  <a:srgbClr val="141B2E"/>
                </a:solidFill>
                <a:latin typeface="Calibri"/>
              </a:rPr>
              <a:t>MCP Servers &amp; Feature Lists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91672" cy="15240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394960" cy="2916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 dirty="0">
                <a:solidFill>
                  <a:srgbClr val="1F2937"/>
                </a:solidFill>
                <a:latin typeface="Calibri"/>
              </a:rPr>
              <a:t>MCP Servers : Model Context Protocol connects Copilot to real external services, like a </a:t>
            </a:r>
            <a:r>
              <a:rPr sz="1600" b="0" i="0" dirty="0" err="1">
                <a:solidFill>
                  <a:srgbClr val="1F2937"/>
                </a:solidFill>
                <a:latin typeface="Calibri"/>
              </a:rPr>
              <a:t>Supabase</a:t>
            </a:r>
            <a:r>
              <a:rPr sz="1600" b="0" i="0" dirty="0">
                <a:solidFill>
                  <a:srgbClr val="1F2937"/>
                </a:solidFill>
                <a:latin typeface="Calibri"/>
              </a:rPr>
              <a:t> database, so it can perform real operations — not just suggest code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 dirty="0">
                <a:solidFill>
                  <a:srgbClr val="1F2937"/>
                </a:solidFill>
                <a:latin typeface="Calibri"/>
              </a:rPr>
              <a:t>MCP is configured through a config file that lists the available servers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 dirty="0">
                <a:solidFill>
                  <a:srgbClr val="1F2937"/>
                </a:solidFill>
                <a:latin typeface="Calibri"/>
              </a:rPr>
              <a:t>Feature Lists : a TODO.md-style file that lays out tasks in order for Agent Mode</a:t>
            </a:r>
          </a:p>
          <a:p>
            <a:pPr marL="201168" indent="-201168" algn="l">
              <a:lnSpc>
                <a:spcPct val="115000"/>
              </a:lnSpc>
              <a:spcAft>
                <a:spcPts val="1000"/>
              </a:spcAft>
              <a:buFont typeface="Arial"/>
              <a:buChar char="–"/>
            </a:pPr>
            <a:r>
              <a:rPr sz="1600" b="0" i="0" dirty="0">
                <a:solidFill>
                  <a:srgbClr val="1F2937"/>
                </a:solidFill>
                <a:latin typeface="Calibri"/>
              </a:rPr>
              <a:t>Break a big, vague request into clear, ordered steps in a single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68112" cy="4206240"/>
          </a:xfrm>
          <a:prstGeom prst="roundRect">
            <a:avLst>
              <a:gd name="adj" fmla="val 4000"/>
            </a:avLst>
          </a:prstGeom>
          <a:solidFill>
            <a:srgbClr val="0F17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ctr"/>
          <a:lstStyle/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# feature-list.md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[ ] Add login page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[ ] Connect form to database</a:t>
            </a:r>
          </a:p>
          <a:p>
            <a:pPr algn="l">
              <a:spcAft>
                <a:spcPts val="200"/>
              </a:spcAft>
              <a:buNone/>
            </a:pPr>
            <a:r>
              <a:rPr sz="1350" b="0" i="0">
                <a:solidFill>
                  <a:srgbClr val="B7F7C1"/>
                </a:solidFill>
                <a:latin typeface="Consolas"/>
              </a:rPr>
              <a:t>- [ ] Add data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 i="0">
                <a:solidFill>
                  <a:srgbClr val="2EC4B6"/>
                </a:solidFill>
                <a:latin typeface="Calibri"/>
              </a:rPr>
              <a:t>FINAL THOUGHTS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13055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E4E9F2"/>
                </a:solidFill>
                <a:latin typeface="Calibri"/>
              </a:rPr>
              <a:t>Copilot is an assistant, not an autopilot — you stay in control of decisions and code quality.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926080"/>
            <a:ext cx="457200" cy="45720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90779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E4E9F2"/>
                </a:solidFill>
                <a:latin typeface="Calibri"/>
              </a:rPr>
              <a:t>Pick the right mode: Ask to learn, Edit for scoped changes, Agent for multi-step tasks.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03320"/>
            <a:ext cx="457200" cy="45720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68503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E4E9F2"/>
                </a:solidFill>
                <a:latin typeface="Calibri"/>
              </a:rPr>
              <a:t>Sharper Context (#file references, Instruction Files) means sharper Copilot output.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80559"/>
            <a:ext cx="457200" cy="45720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46227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E4E9F2"/>
                </a:solidFill>
                <a:latin typeface="Calibri"/>
              </a:rPr>
              <a:t>Commit often with Git — it's your safety net for undoing any AI-driven change.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257799"/>
            <a:ext cx="457200" cy="457200"/>
          </a:xfrm>
          <a:prstGeom prst="ellipse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5239512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buNone/>
            </a:pPr>
            <a:r>
              <a:rPr sz="1600" b="0" i="0">
                <a:solidFill>
                  <a:srgbClr val="E4E9F2"/>
                </a:solidFill>
                <a:latin typeface="Calibri"/>
              </a:rPr>
              <a:t>MCP Servers and Feature Lists turn Copilot from a code-completer into a project collaborator.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881</Words>
  <Application>Microsoft Office PowerPoint</Application>
  <PresentationFormat>Widescreen</PresentationFormat>
  <Paragraphs>112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مصطفى محمد حمدى محمد</cp:lastModifiedBy>
  <cp:revision>2</cp:revision>
  <dcterms:created xsi:type="dcterms:W3CDTF">2013-01-27T09:14:16Z</dcterms:created>
  <dcterms:modified xsi:type="dcterms:W3CDTF">2026-08-29T09:19:12Z</dcterms:modified>
  <cp:category/>
</cp:coreProperties>
</file>