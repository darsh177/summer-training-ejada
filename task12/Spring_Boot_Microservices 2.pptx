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4160520"/>
            <a:ext cx="1005840" cy="50800"/>
          </a:xfrm>
          <a:prstGeom prst="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FC9C9"/>
                </a:solidFill>
                <a:latin typeface="Calibri"/>
              </a:rPr>
              <a:t>JAVA BRAINS — SPRING BOOT MICROSERVICES • LEVEL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65960"/>
            <a:ext cx="1088136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4400" b="1" i="0" dirty="0">
                <a:solidFill>
                  <a:srgbClr val="FFFFFF"/>
                </a:solidFill>
                <a:latin typeface="Calibri"/>
              </a:rPr>
              <a:t>Fault Tolerance and Resilience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63240"/>
            <a:ext cx="98755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 i="0" dirty="0">
                <a:solidFill>
                  <a:srgbClr val="D3DDE3"/>
                </a:solidFill>
                <a:latin typeface="Calibri"/>
              </a:rPr>
              <a:t>How microservices survive - and recover from - failures across the network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234440"/>
            <a:ext cx="73152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B8A8A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A556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31136"/>
            <a:ext cx="69494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 dirty="0">
                <a:solidFill>
                  <a:srgbClr val="4A5560"/>
                </a:solidFill>
                <a:latin typeface="Calibri"/>
              </a:rPr>
              <a:t>Microservices constantly talk to each other over the network. This playlist is built around one central question: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108960"/>
            <a:ext cx="7040880" cy="1371600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3319272"/>
            <a:ext cx="64922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 i="1">
                <a:solidFill>
                  <a:srgbClr val="0F2A44"/>
                </a:solidFill>
                <a:latin typeface="Calibri"/>
              </a:rPr>
              <a:t>“What happens when one service becomes slow or stops responding?”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800599"/>
            <a:ext cx="694944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 dirty="0">
                <a:solidFill>
                  <a:srgbClr val="4A5560"/>
                </a:solidFill>
                <a:latin typeface="Calibri"/>
              </a:rPr>
              <a:t>The answer is built up gradually - from the raw problem, to Timeouts, to the Circuit Breaker pattern, to the Hystrix library, and finally the Bulkhead pattern.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8A8A"/>
                </a:solidFill>
                <a:latin typeface="Calibri"/>
              </a:rPr>
              <a:t>CORE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Calibri"/>
              </a:rPr>
              <a:t>Fault Tolerance vs.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A556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A5560"/>
                </a:solidFill>
                <a:latin typeface="Calibri"/>
              </a:rPr>
              <a:t>Two terms that sound similar but describe different moments in a system's life: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5212080" cy="356616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Fault Tolerance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62072"/>
            <a:ext cx="475488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Keep running: </a:t>
            </a:r>
            <a:r>
              <a:rPr sz="1250" b="0">
                <a:solidFill>
                  <a:srgbClr val="4A5560"/>
                </a:solidFill>
                <a:latin typeface="Calibri"/>
              </a:rPr>
              <a:t>the system continues operating even while part of it is broken.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Focus: </a:t>
            </a:r>
            <a:r>
              <a:rPr sz="1250" b="0">
                <a:solidFill>
                  <a:srgbClr val="4A5560"/>
                </a:solidFill>
                <a:latin typeface="Calibri"/>
              </a:rPr>
              <a:t>surviving the problem while it is happening.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Example: </a:t>
            </a:r>
            <a:r>
              <a:rPr sz="1250" b="0">
                <a:solidFill>
                  <a:srgbClr val="4A5560"/>
                </a:solidFill>
                <a:latin typeface="Calibri"/>
              </a:rPr>
              <a:t>one service fails, but the rest of the app stays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240280"/>
            <a:ext cx="5394960" cy="356616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242316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Resilience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862072"/>
            <a:ext cx="49377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Bounce back: </a:t>
            </a:r>
            <a:r>
              <a:rPr sz="1250" b="0">
                <a:solidFill>
                  <a:srgbClr val="4A5560"/>
                </a:solidFill>
                <a:latin typeface="Calibri"/>
              </a:rPr>
              <a:t>the system recovers and returns to normal once the fault is fixed.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Focus: </a:t>
            </a:r>
            <a:r>
              <a:rPr sz="1250" b="0">
                <a:solidFill>
                  <a:srgbClr val="4A5560"/>
                </a:solidFill>
                <a:latin typeface="Calibri"/>
              </a:rPr>
              <a:t>healing after the problem has passed.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Example: </a:t>
            </a:r>
            <a:r>
              <a:rPr sz="1250" b="0">
                <a:solidFill>
                  <a:srgbClr val="4A5560"/>
                </a:solidFill>
                <a:latin typeface="Calibri"/>
              </a:rPr>
              <a:t>traffic automatically flows again once a service is healthy.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13816" y="664833"/>
            <a:ext cx="731520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 dirty="0">
                <a:solidFill>
                  <a:srgbClr val="1B8A8A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A556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4A5560"/>
                </a:solidFill>
                <a:latin typeface="Calibri"/>
              </a:rPr>
              <a:t>The Level 1 project set up the building blocks this course builds on: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607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B8A8A"/>
                </a:solidFill>
                <a:latin typeface="Calibri"/>
              </a:rPr>
              <a:t>▪  </a:t>
            </a:r>
            <a:r>
              <a:rPr sz="1600" b="1">
                <a:solidFill>
                  <a:srgbClr val="0F2A44"/>
                </a:solidFill>
                <a:latin typeface="Calibri"/>
              </a:rPr>
              <a:t>Services: </a:t>
            </a:r>
            <a:r>
              <a:rPr sz="1600" b="0">
                <a:solidFill>
                  <a:srgbClr val="0F2A44"/>
                </a:solidFill>
                <a:latin typeface="Calibri"/>
              </a:rPr>
              <a:t>Service Catalog, Info Service, and Service Ratings.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B8A8A"/>
                </a:solidFill>
                <a:latin typeface="Calibri"/>
              </a:rPr>
              <a:t>▪  </a:t>
            </a:r>
            <a:r>
              <a:rPr sz="1600" b="1">
                <a:solidFill>
                  <a:srgbClr val="0F2A44"/>
                </a:solidFill>
                <a:latin typeface="Calibri"/>
              </a:rPr>
              <a:t>Eureka Server: </a:t>
            </a:r>
            <a:r>
              <a:rPr sz="1600" b="0">
                <a:solidFill>
                  <a:srgbClr val="0F2A44"/>
                </a:solidFill>
                <a:latin typeface="Calibri"/>
              </a:rPr>
              <a:t>a discovery server the services register themselves with.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1B8A8A"/>
                </a:solidFill>
                <a:latin typeface="Calibri"/>
              </a:rPr>
              <a:t>▪  </a:t>
            </a:r>
            <a:r>
              <a:rPr sz="1600" b="1">
                <a:solidFill>
                  <a:srgbClr val="0F2A44"/>
                </a:solidFill>
                <a:latin typeface="Calibri"/>
              </a:rPr>
              <a:t>Communication: </a:t>
            </a:r>
            <a:r>
              <a:rPr sz="1600" b="0">
                <a:solidFill>
                  <a:srgbClr val="0F2A44"/>
                </a:solidFill>
                <a:latin typeface="Calibri"/>
              </a:rPr>
              <a:t>services talk via RestTemplate with automatic load balancing.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663440"/>
            <a:ext cx="10881360" cy="1051560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0F2A44"/>
                </a:solidFill>
                <a:latin typeface="Calibri"/>
              </a:rPr>
              <a:t>All of this works perfectly... in the ideal case. This playlist explores what happens when things stop being ideal.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dirty="0">
                <a:solidFill>
                  <a:srgbClr val="1B8A8A"/>
                </a:solidFill>
                <a:latin typeface="Calibri"/>
              </a:rPr>
              <a:t>THE PROBLEM,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Calibri"/>
              </a:rPr>
              <a:t>Adding an External API Call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A5560"/>
                </a:solidFill>
                <a:latin typeface="Calibri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349240" cy="420624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A New Layer of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4892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The change: </a:t>
            </a:r>
            <a:r>
              <a:rPr sz="1250" b="0">
                <a:solidFill>
                  <a:srgbClr val="4A5560"/>
                </a:solidFill>
                <a:latin typeface="Calibri"/>
              </a:rPr>
              <a:t>instead of only calling services inside the system, a call to an external API is added.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Why it matters: </a:t>
            </a:r>
            <a:r>
              <a:rPr sz="1250" b="0">
                <a:solidFill>
                  <a:srgbClr val="4A5560"/>
                </a:solidFill>
                <a:latin typeface="Calibri"/>
              </a:rPr>
              <a:t>an outside service may be slow, unreliable, or completely outside our control.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The lesson: </a:t>
            </a:r>
            <a:r>
              <a:rPr sz="1250" b="0">
                <a:solidFill>
                  <a:srgbClr val="4A5560"/>
                </a:solidFill>
                <a:latin typeface="Calibri"/>
              </a:rPr>
              <a:t>we can never fully guarantee the stability of everything we depend 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00200"/>
            <a:ext cx="5349240" cy="420624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What If a Service Goes Down?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21992"/>
            <a:ext cx="4892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Scenario: </a:t>
            </a:r>
            <a:r>
              <a:rPr sz="1250" b="0">
                <a:solidFill>
                  <a:srgbClr val="4A5560"/>
                </a:solidFill>
                <a:latin typeface="Calibri"/>
              </a:rPr>
              <a:t>a dependent service crashes completely.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Ripple effect: </a:t>
            </a:r>
            <a:r>
              <a:rPr sz="1250" b="0">
                <a:solidFill>
                  <a:srgbClr val="4A5560"/>
                </a:solidFill>
                <a:latin typeface="Calibri"/>
              </a:rPr>
              <a:t>the failure propagates to every service that depends on it.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User impact: </a:t>
            </a:r>
            <a:r>
              <a:rPr sz="1250" b="0">
                <a:solidFill>
                  <a:srgbClr val="4A5560"/>
                </a:solidFill>
                <a:latin typeface="Calibri"/>
              </a:rPr>
              <a:t>the end user can see a full error page because of one small broken part.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Key idea: </a:t>
            </a:r>
            <a:r>
              <a:rPr sz="1250" b="0">
                <a:solidFill>
                  <a:srgbClr val="4A5560"/>
                </a:solidFill>
                <a:latin typeface="Calibri"/>
              </a:rPr>
              <a:t>this highlights the importance of failure isolation.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8A8A"/>
                </a:solidFill>
                <a:latin typeface="Calibri"/>
              </a:rPr>
              <a:t>THE PROBLEM,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Calibri"/>
              </a:rPr>
              <a:t>A Slow Service Can Be Worse Than a Down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A5560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349240" cy="420624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The Slow Service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4892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Not down, just slow: </a:t>
            </a:r>
            <a:r>
              <a:rPr sz="1250" b="0">
                <a:solidFill>
                  <a:srgbClr val="4A5560"/>
                </a:solidFill>
                <a:latin typeface="Calibri"/>
              </a:rPr>
              <a:t>a slow service is often more dangerous than one that has failed completely.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Blocked threads: </a:t>
            </a:r>
            <a:r>
              <a:rPr sz="1250" b="0">
                <a:solidFill>
                  <a:srgbClr val="4A5560"/>
                </a:solidFill>
                <a:latin typeface="Calibri"/>
              </a:rPr>
              <a:t>the thread waiting on the slow response stays blocked for a long time.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Why it's worse: </a:t>
            </a:r>
            <a:r>
              <a:rPr sz="1250" b="0">
                <a:solidFill>
                  <a:srgbClr val="4A5560"/>
                </a:solidFill>
                <a:latin typeface="Calibri"/>
              </a:rPr>
              <a:t>the system keeps “waiting” instead of quickly returning a clear error.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00200"/>
            <a:ext cx="5349240" cy="420624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The Problem With Threads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21992"/>
            <a:ext cx="4892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Limited pool: </a:t>
            </a:r>
            <a:r>
              <a:rPr sz="1250" b="0">
                <a:solidFill>
                  <a:srgbClr val="4A5560"/>
                </a:solidFill>
                <a:latin typeface="Calibri"/>
              </a:rPr>
              <a:t>every server has a fixed number of threads available in its thread pool.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Thread starvation: </a:t>
            </a:r>
            <a:r>
              <a:rPr sz="1250" b="0">
                <a:solidFill>
                  <a:srgbClr val="4A5560"/>
                </a:solidFill>
                <a:latin typeface="Calibri"/>
              </a:rPr>
              <a:t>if all requests are waiting on a slow service, every thread gets tied up.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Total impact: </a:t>
            </a:r>
            <a:r>
              <a:rPr sz="1250" b="0">
                <a:solidFill>
                  <a:srgbClr val="4A5560"/>
                </a:solidFill>
                <a:latin typeface="Calibri"/>
              </a:rPr>
              <a:t>even unrelated requests can't find a free thread — the whole server effectively stalls. Also known as “Resource Exhaustion.”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8A8A"/>
                </a:solidFill>
                <a:latin typeface="Calibri"/>
              </a:rPr>
              <a:t>FIRST ATTEMPT AT A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Calibri"/>
              </a:rPr>
              <a:t>The Timeout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A556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>
                <a:solidFill>
                  <a:srgbClr val="1B8A8A"/>
                </a:solidFill>
                <a:latin typeface="Calibri"/>
              </a:rPr>
              <a:t>▪  </a:t>
            </a:r>
            <a:r>
              <a:rPr sz="1550" b="1">
                <a:solidFill>
                  <a:srgbClr val="0F2A44"/>
                </a:solidFill>
                <a:latin typeface="Calibri"/>
              </a:rPr>
              <a:t>The idea: </a:t>
            </a:r>
            <a:r>
              <a:rPr sz="1550" b="0">
                <a:solidFill>
                  <a:srgbClr val="0F2A44"/>
                </a:solidFill>
                <a:latin typeface="Calibri"/>
              </a:rPr>
              <a:t>set a maximum wait time. If a request doesn't get a response within that window, the system cuts it off and returns an error instead of waiting indefinitely.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550" b="1">
                <a:solidFill>
                  <a:srgbClr val="1B8A8A"/>
                </a:solidFill>
                <a:latin typeface="Calibri"/>
              </a:rPr>
              <a:t>▪  </a:t>
            </a:r>
            <a:r>
              <a:rPr sz="1550" b="1">
                <a:solidFill>
                  <a:srgbClr val="0F2A44"/>
                </a:solidFill>
                <a:latin typeface="Calibri"/>
              </a:rPr>
              <a:t>In practice: </a:t>
            </a:r>
            <a:r>
              <a:rPr sz="1550" b="0">
                <a:solidFill>
                  <a:srgbClr val="0F2A44"/>
                </a:solidFill>
                <a:latin typeface="Calibri"/>
              </a:rPr>
              <a:t>Spring Boot's RestTemplate exposes two settings — Connection Timeout (time allowed to establish a connection) and Read Timeout (time allowed to receive a response after connecting).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10881360" cy="1737360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3327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 dirty="0">
                <a:solidFill>
                  <a:srgbClr val="0F2A44"/>
                </a:solidFill>
                <a:latin typeface="Calibri"/>
              </a:rPr>
              <a:t>  We Haven't Solved It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53712"/>
            <a:ext cx="10332720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4A5560"/>
                </a:solidFill>
                <a:latin typeface="Calibri"/>
              </a:rPr>
              <a:t>A Timeout alone isn't enough. If a service is consistently slow, every new request still waits out the full timeout window before failing — delaying failure, not preventing resource exhaustion. With thousands of requests per second, threads still get tied up until each timeout expires.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8A8A"/>
                </a:solidFill>
                <a:latin typeface="Calibri"/>
              </a:rPr>
              <a:t>THE REAL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Calibri"/>
              </a:rPr>
              <a:t>Understanding the Circuit Breaker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A5560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8813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0" i="0">
                <a:solidFill>
                  <a:srgbClr val="4A5560"/>
                </a:solidFill>
                <a:latin typeface="Calibri"/>
              </a:rPr>
              <a:t>Inspired by the electrical circuit breaker in a house: if there's a problem in the circuit, the breaker “trips” to protect the rest of the circuit from damage. The same idea applies here — if a service keeps failing repeatedly, the Circuit Breaker “opens” and stops sending it new requests entirely for a while, instead of letting every request wait out its own timeout. This saves time and resources, and gives the failing service room to recover.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063240"/>
            <a:ext cx="3429000" cy="274320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Closed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85032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Normal state</a:t>
            </a:r>
            <a:r>
              <a:rPr sz="1250" b="0">
                <a:solidFill>
                  <a:srgbClr val="4A5560"/>
                </a:solidFill>
                <a:latin typeface="Calibri"/>
              </a:rPr>
              <a:t> — requests pass through as usual.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3063240"/>
            <a:ext cx="3429000" cy="274320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324612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685032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Failure threshold exceeded</a:t>
            </a:r>
            <a:r>
              <a:rPr sz="1250" b="0">
                <a:solidFill>
                  <a:srgbClr val="4A5560"/>
                </a:solidFill>
                <a:latin typeface="Calibri"/>
              </a:rPr>
              <a:t> — the breaker rejects every request immediately, without even trying.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063240"/>
            <a:ext cx="3474720" cy="274320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32461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Half-Open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685032"/>
            <a:ext cx="30175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After a cool-down period</a:t>
            </a:r>
            <a:r>
              <a:rPr sz="1250" b="0">
                <a:solidFill>
                  <a:srgbClr val="4A5560"/>
                </a:solidFill>
                <a:latin typeface="Calibri"/>
              </a:rPr>
              <a:t> — one trial request is allowed through. Success closes the breaker again; failure re-opens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8A8A"/>
                </a:solidFill>
                <a:latin typeface="Calibri"/>
              </a:rPr>
              <a:t>HANDLING AN OPEN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Calibri"/>
              </a:rPr>
              <a:t>Fallbacks and the Benefits of Circuit Breaking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A5560"/>
                </a:solidFill>
                <a:latin typeface="Calibri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349240" cy="420624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The Fallback Concept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4892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The problem: </a:t>
            </a:r>
            <a:r>
              <a:rPr sz="1250" b="0">
                <a:solidFill>
                  <a:srgbClr val="4A5560"/>
                </a:solidFill>
                <a:latin typeface="Calibri"/>
              </a:rPr>
              <a:t>when the circuit opens, users shouldn't just see a broken error.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The solution: </a:t>
            </a:r>
            <a:r>
              <a:rPr sz="1250" b="0">
                <a:solidFill>
                  <a:srgbClr val="4A5560"/>
                </a:solidFill>
                <a:latin typeface="Calibri"/>
              </a:rPr>
              <a:t>prepare a backup plan that runs immediately, such as returning cached data, a default message, or an empty value — instead of crashing the whole app.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1600200"/>
            <a:ext cx="5349240" cy="420624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Why Use a Circuit Breaker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221992"/>
            <a:ext cx="48920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Prevents resource exhaustion</a:t>
            </a:r>
            <a:r>
              <a:rPr sz="1250" b="0">
                <a:solidFill>
                  <a:srgbClr val="4A5560"/>
                </a:solidFill>
                <a:latin typeface="Calibri"/>
              </a:rPr>
              <a:t> across the system.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Fails fast, </a:t>
            </a:r>
            <a:r>
              <a:rPr sz="1250" b="0">
                <a:solidFill>
                  <a:srgbClr val="4A5560"/>
                </a:solidFill>
                <a:latin typeface="Calibri"/>
              </a:rPr>
              <a:t>improving response speed under failure.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Gives the struggling service </a:t>
            </a:r>
            <a:r>
              <a:rPr sz="1250" b="0">
                <a:solidFill>
                  <a:srgbClr val="4A5560"/>
                </a:solidFill>
                <a:latin typeface="Calibri"/>
              </a:rPr>
              <a:t>a real chance to recover.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Improves the overall </a:t>
            </a:r>
            <a:r>
              <a:rPr sz="1250" b="0">
                <a:solidFill>
                  <a:srgbClr val="4A5560"/>
                </a:solidFill>
                <a:latin typeface="Calibri"/>
              </a:rPr>
              <a:t>user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8A8A"/>
                </a:solidFill>
                <a:latin typeface="Calibri"/>
              </a:rPr>
              <a:t>APPLYING IT WITH A LIBRARY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Calibri"/>
              </a:rPr>
              <a:t>Hystrix: Circuit Breaking, Ready-Made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A5560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1B8A8A"/>
                </a:solidFill>
                <a:latin typeface="Calibri"/>
              </a:rPr>
              <a:t>▪  </a:t>
            </a:r>
            <a:r>
              <a:rPr sz="1450" b="1">
                <a:solidFill>
                  <a:srgbClr val="0F2A44"/>
                </a:solidFill>
                <a:latin typeface="Calibri"/>
              </a:rPr>
              <a:t>What it is: </a:t>
            </a:r>
            <a:r>
              <a:rPr sz="1450" b="0">
                <a:solidFill>
                  <a:srgbClr val="0F2A44"/>
                </a:solidFill>
                <a:latin typeface="Calibri"/>
              </a:rPr>
              <a:t>a library built by Netflix that provides a full, ready-made implementation of the Circuit Breaker pattern (and other fault-tolerance patterns), so you don't have to build it from scratch.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1B8A8A"/>
                </a:solidFill>
                <a:latin typeface="Calibri"/>
              </a:rPr>
              <a:t>▪  </a:t>
            </a:r>
            <a:r>
              <a:rPr sz="1450" b="1">
                <a:solidFill>
                  <a:srgbClr val="0F2A44"/>
                </a:solidFill>
                <a:latin typeface="Calibri"/>
              </a:rPr>
              <a:t>How to add it: </a:t>
            </a:r>
            <a:r>
              <a:rPr sz="1450" b="0">
                <a:solidFill>
                  <a:srgbClr val="0F2A44"/>
                </a:solidFill>
                <a:latin typeface="Calibri"/>
              </a:rPr>
              <a:t>add the Hystrix dependency in pom.xml, enable it on the main class with @EnableCircuitBreaker or @EnableHystrix, then wrap any method calling an external service with @HystrixCommand.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1B8A8A"/>
                </a:solidFill>
                <a:latin typeface="Calibri"/>
              </a:rPr>
              <a:t>▪  </a:t>
            </a:r>
            <a:r>
              <a:rPr sz="1450" b="1">
                <a:solidFill>
                  <a:srgbClr val="0F2A44"/>
                </a:solidFill>
                <a:latin typeface="Calibri"/>
              </a:rPr>
              <a:t>How it works: </a:t>
            </a:r>
            <a:r>
              <a:rPr sz="1450" b="0">
                <a:solidFill>
                  <a:srgbClr val="0F2A44"/>
                </a:solidFill>
                <a:latin typeface="Calibri"/>
              </a:rPr>
              <a:t>Hystrix wraps every protected call inside a proxy and continuously tracks the success/failure rate; once failures cross a threshold within a time window, the circuit opens automatically and requests are routed straight to the fallback.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10881360" cy="777240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0F2A44"/>
                </a:solidFill>
                <a:latin typeface="Calibri"/>
              </a:rPr>
              <a:t>Note: Hystrix later moved into Maintenance Mode and is often replaced today by Resilience4j — but the underlying concepts remain the same.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8A8A"/>
                </a:solidFill>
                <a:latin typeface="Calibri"/>
              </a:rPr>
              <a:t>REFINING THE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2A44"/>
                </a:solidFill>
                <a:latin typeface="Calibri"/>
              </a:rPr>
              <a:t>Granular Fallbacks, Bulkhead &amp;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4A5560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3520440" cy="420624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A Proxy 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21992"/>
            <a:ext cx="30632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The issue: </a:t>
            </a:r>
            <a:r>
              <a:rPr sz="1250" b="0">
                <a:solidFill>
                  <a:srgbClr val="4A5560"/>
                </a:solidFill>
                <a:latin typeface="Calibri"/>
              </a:rPr>
              <a:t>if one method calls several external services, @HystrixCommand protects the whole method as a single block.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The fix: </a:t>
            </a:r>
            <a:r>
              <a:rPr sz="1250" b="0">
                <a:solidFill>
                  <a:srgbClr val="4A5560"/>
                </a:solidFill>
                <a:latin typeface="Calibri"/>
              </a:rPr>
              <a:t>split the method into smaller, single-purpose methods, each with its own @HystrixCommand and fallback — so one failure doesn't trigger a fallback for everything.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00200"/>
            <a:ext cx="3520440" cy="420624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78308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The Bulkhead Pattern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21992"/>
            <a:ext cx="306324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Inspired by ships: </a:t>
            </a:r>
            <a:r>
              <a:rPr sz="1250" b="0">
                <a:solidFill>
                  <a:srgbClr val="4A5560"/>
                </a:solidFill>
                <a:latin typeface="Calibri"/>
              </a:rPr>
              <a:t>compartments are sealed off, so a flooded section doesn't sink the whole vessel.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Applied here: </a:t>
            </a:r>
            <a:r>
              <a:rPr sz="1250" b="0">
                <a:solidFill>
                  <a:srgbClr val="4A5560"/>
                </a:solidFill>
                <a:latin typeface="Calibri"/>
              </a:rPr>
              <a:t>give each service its own thread pool instead of sharing one.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Result: </a:t>
            </a:r>
            <a:r>
              <a:rPr sz="1250" b="0">
                <a:solidFill>
                  <a:srgbClr val="4A5560"/>
                </a:solidFill>
                <a:latin typeface="Calibri"/>
              </a:rPr>
              <a:t>one slow service consuming all its threads no longer affects other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600200"/>
            <a:ext cx="3566160" cy="4206240"/>
          </a:xfrm>
          <a:prstGeom prst="rect">
            <a:avLst/>
          </a:prstGeom>
          <a:solidFill>
            <a:srgbClr val="F6F8F9"/>
          </a:solidFill>
          <a:ln w="12700">
            <a:solidFill>
              <a:srgbClr val="D8E2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79" y="17830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8A8A"/>
                </a:solidFill>
                <a:latin typeface="Calibri"/>
              </a:rPr>
              <a:t>Hystrix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2221992"/>
            <a:ext cx="310896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What it is: </a:t>
            </a:r>
            <a:r>
              <a:rPr sz="1250" b="0">
                <a:solidFill>
                  <a:srgbClr val="4A5560"/>
                </a:solidFill>
                <a:latin typeface="Calibri"/>
              </a:rPr>
              <a:t>a visual tool showing the live status of every circuit breaker in the system.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50" b="1">
                <a:solidFill>
                  <a:srgbClr val="1B8A8A"/>
                </a:solidFill>
                <a:latin typeface="Calibri"/>
              </a:rPr>
              <a:t>▪  </a:t>
            </a:r>
            <a:r>
              <a:rPr sz="1250" b="1">
                <a:solidFill>
                  <a:srgbClr val="4A5560"/>
                </a:solidFill>
                <a:latin typeface="Calibri"/>
              </a:rPr>
              <a:t>What it shows: </a:t>
            </a:r>
            <a:r>
              <a:rPr sz="1250" b="0">
                <a:solidFill>
                  <a:srgbClr val="4A5560"/>
                </a:solidFill>
                <a:latin typeface="Calibri"/>
              </a:rPr>
              <a:t>open/closed state, success/failure rate, request volume, and latency — at a glance, instead of digging through logs.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8FC9C9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From a Slow Call to a Resilient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384048" cy="384048"/>
          </a:xfrm>
          <a:prstGeom prst="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92807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4EAEE"/>
                </a:solidFill>
                <a:latin typeface="Calibri"/>
              </a:rPr>
              <a:t>A slow or failing dependency 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441447"/>
            <a:ext cx="384048" cy="384048"/>
          </a:xfrm>
          <a:prstGeom prst="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44144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59735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4EAEE"/>
                </a:solidFill>
                <a:latin typeface="Calibri"/>
              </a:rPr>
              <a:t>Timeout — helpful, but not enough on its 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08375"/>
            <a:ext cx="384048" cy="384048"/>
          </a:xfrm>
          <a:prstGeom prst="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5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26663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4EAEE"/>
                </a:solidFill>
                <a:latin typeface="Calibri"/>
              </a:rPr>
              <a:t>Circuit Breaker — opens and closes based on service health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575303"/>
            <a:ext cx="384048" cy="384048"/>
          </a:xfrm>
          <a:prstGeom prst="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357530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593591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4EAEE"/>
                </a:solidFill>
                <a:latin typeface="Calibri"/>
              </a:rPr>
              <a:t>Hystrix — a ready-made, practical implementation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142231"/>
            <a:ext cx="384048" cy="384048"/>
          </a:xfrm>
          <a:prstGeom prst="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14223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60519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4EAEE"/>
                </a:solidFill>
                <a:latin typeface="Calibri"/>
              </a:rPr>
              <a:t>Granular fallbacks — more precise failure handling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709159"/>
            <a:ext cx="384048" cy="384048"/>
          </a:xfrm>
          <a:prstGeom prst="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709159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727447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4EAEE"/>
                </a:solidFill>
                <a:latin typeface="Calibri"/>
              </a:rPr>
              <a:t>Bulkhead — isolates resources per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76087"/>
            <a:ext cx="384048" cy="384048"/>
          </a:xfrm>
          <a:prstGeom prst="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2760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294375"/>
            <a:ext cx="98755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4EAEE"/>
                </a:solidFill>
                <a:latin typeface="Calibri"/>
              </a:rPr>
              <a:t>Dashboard — monitors it all in real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989320"/>
            <a:ext cx="10881360" cy="18288"/>
          </a:xfrm>
          <a:prstGeom prst="rect">
            <a:avLst/>
          </a:prstGeom>
          <a:solidFill>
            <a:srgbClr val="1B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1355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مصطفى محمد حمدى محمد</cp:lastModifiedBy>
  <cp:revision>2</cp:revision>
  <dcterms:created xsi:type="dcterms:W3CDTF">2013-01-27T09:14:16Z</dcterms:created>
  <dcterms:modified xsi:type="dcterms:W3CDTF">2026-08-28T08:59:47Z</dcterms:modified>
  <cp:category/>
</cp:coreProperties>
</file>